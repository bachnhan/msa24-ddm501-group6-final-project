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45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151D35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377440" y="347472"/>
            <a:ext cx="4389120" cy="384048"/>
          </a:xfrm>
          <a:prstGeom prst="rect">
            <a:avLst/>
          </a:prstGeom>
          <a:solidFill>
            <a:srgbClr val="151D35"/>
          </a:solidFill>
          <a:ln w="12700">
            <a:solidFill>
              <a:srgbClr val="2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377440" y="34747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A8"/>
                </a:solidFill>
              </a:rPr>
              <a:t>DDM501 — AI in Production  ·  Group 6  ·  MSA Program 2024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A8"/>
                </a:solidFill>
              </a:rPr>
              <a:t>End-to-end ML system  ·  MLflow  ·  FastAPI  ·  Prometheus  ·  CI/CD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233172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0449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8"/>
                </a:solidFill>
              </a:rPr>
              <a:t>MLOps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32841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0E8"/>
                </a:solidFill>
              </a:rPr>
              <a:t>Nguyễn Huỳnh Bách Nhân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017520"/>
            <a:ext cx="233172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30449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8"/>
                </a:solidFill>
              </a:rPr>
              <a:t>ML Engineer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332841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0E8"/>
                </a:solidFill>
              </a:rPr>
              <a:t>Đỗ Trọng Minh Quân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3017520"/>
            <a:ext cx="233172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30449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8"/>
                </a:solidFill>
              </a:rPr>
              <a:t>Data Scientist / PM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332841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0E8"/>
                </a:solidFill>
              </a:rPr>
              <a:t>Lê Huỳnh Trang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112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F80F0"/>
                </a:solidFill>
              </a:rPr>
              <a:t>SLIDE 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02920" cy="54864"/>
          </a:xfrm>
          <a:prstGeom prst="rect">
            <a:avLst/>
          </a:prstGeom>
          <a:solidFill>
            <a:srgbClr val="4F80F0"/>
          </a:solidFill>
          <a:ln w="12700">
            <a:solidFill>
              <a:srgbClr val="4F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3931920" cy="1115568"/>
          </a:xfrm>
          <a:prstGeom prst="rect">
            <a:avLst/>
          </a:prstGeom>
          <a:solidFill>
            <a:srgbClr val="150A08"/>
          </a:solidFill>
          <a:ln w="12700">
            <a:solidFill>
              <a:srgbClr val="4A2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E87C6E"/>
                </a:solidFill>
              </a:rPr>
              <a:t>INDUSTRY PAIN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4996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A090"/>
                </a:solidFill>
              </a:rPr>
              <a:t>5–10×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19568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8"/>
                </a:solidFill>
              </a:rPr>
              <a:t>cost of acquiring vs. retaining a telecom customer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450592"/>
            <a:ext cx="393192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5054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EA8FE"/>
                </a:solidFill>
              </a:rPr>
              <a:t>CURRENT STATE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779776"/>
            <a:ext cx="658368" cy="256032"/>
          </a:xfrm>
          <a:prstGeom prst="rect">
            <a:avLst/>
          </a:prstGeom>
          <a:solidFill>
            <a:srgbClr val="2A0F0F"/>
          </a:solidFill>
          <a:ln w="12700">
            <a:solidFill>
              <a:srgbClr val="5A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77977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</a:rPr>
              <a:t>Reactive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8"/>
                </a:solidFill>
              </a:rPr>
              <a:t>Detect churn after it happens — too late to intervene.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207008"/>
            <a:ext cx="4160520" cy="1115568"/>
          </a:xfrm>
          <a:prstGeom prst="rect">
            <a:avLst/>
          </a:prstGeom>
          <a:solidFill>
            <a:srgbClr val="0A1520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26187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EA8FE"/>
                </a:solidFill>
              </a:rPr>
              <a:t>OUR SOLUTION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536192"/>
            <a:ext cx="768096" cy="256032"/>
          </a:xfrm>
          <a:prstGeom prst="rect">
            <a:avLst/>
          </a:prstGeom>
          <a:solidFill>
            <a:srgbClr val="0F2D1E"/>
          </a:solidFill>
          <a:ln w="12700">
            <a:solidFill>
              <a:srgbClr val="1A5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53619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Proactive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22976" y="15361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8"/>
                </a:solidFill>
              </a:rPr>
              <a:t>30–60 days early warning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84708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8"/>
                </a:solidFill>
              </a:rPr>
              <a:t>ML system scoring churn risk before customers disengage — enabling targeted retention campaigns.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450592"/>
            <a:ext cx="416052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250545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A78BFA"/>
                </a:solidFill>
              </a:rPr>
              <a:t>DATASET — IBM Telco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779776"/>
            <a:ext cx="1261872" cy="713232"/>
          </a:xfrm>
          <a:prstGeom prst="rect">
            <a:avLst/>
          </a:prstGeom>
          <a:solidFill>
            <a:srgbClr val="0D1525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279806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</a:rPr>
              <a:t>7,043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63440" y="321868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A6A"/>
                </a:solidFill>
              </a:rPr>
              <a:t>Customers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2779776"/>
            <a:ext cx="1261872" cy="713232"/>
          </a:xfrm>
          <a:prstGeom prst="rect">
            <a:avLst/>
          </a:prstGeom>
          <a:solidFill>
            <a:srgbClr val="0D1525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0" y="279806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090"/>
                </a:solidFill>
              </a:rPr>
              <a:t>26.5%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35040" y="321868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A6A"/>
                </a:solidFill>
              </a:rPr>
              <a:t>Churn Rate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2779776"/>
            <a:ext cx="1261872" cy="713232"/>
          </a:xfrm>
          <a:prstGeom prst="rect">
            <a:avLst/>
          </a:prstGeom>
          <a:solidFill>
            <a:srgbClr val="0D1525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06640" y="279806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E7B7"/>
                </a:solidFill>
              </a:rPr>
              <a:t>21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06640" y="321868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A6A"/>
                </a:solidFill>
              </a:rPr>
              <a:t>Features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F80F0"/>
                </a:solidFill>
              </a:rPr>
              <a:t>SLIDE 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02920" cy="54864"/>
          </a:xfrm>
          <a:prstGeom prst="rect">
            <a:avLst/>
          </a:prstGeom>
          <a:solidFill>
            <a:srgbClr val="4F80F0"/>
          </a:solidFill>
          <a:ln w="12700">
            <a:solidFill>
              <a:srgbClr val="4F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68580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" y="1298448"/>
            <a:ext cx="411480" cy="411480"/>
          </a:xfrm>
          <a:prstGeom prst="ellipse">
            <a:avLst/>
          </a:prstGeom>
          <a:solidFill>
            <a:srgbClr val="1A2D5E"/>
          </a:solidFill>
          <a:ln w="12700">
            <a:solidFill>
              <a:srgbClr val="1A2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" y="1261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</a:rPr>
              <a:t>Layer 1 — Data Ingestion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2416" y="153619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IBM Telco CSV · Feature engineering · Train/test split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1645920" cy="274320"/>
          </a:xfrm>
          <a:prstGeom prst="rect">
            <a:avLst/>
          </a:prstGeom>
          <a:solidFill>
            <a:srgbClr val="1A2D5E"/>
          </a:solidFill>
          <a:ln w="12700">
            <a:solidFill>
              <a:srgbClr val="1A2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A8FE"/>
                </a:solidFill>
              </a:rPr>
              <a:t>Pandas / Sklearn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1847088"/>
            <a:ext cx="9144" cy="73152"/>
          </a:xfrm>
          <a:prstGeom prst="rect">
            <a:avLst/>
          </a:prstGeom>
          <a:solidFill>
            <a:srgbClr val="3A4A6A"/>
          </a:solidFill>
          <a:ln w="12700">
            <a:solidFill>
              <a:srgbClr val="3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1828800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6A"/>
                </a:solidFill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938528"/>
            <a:ext cx="68580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0352" y="2029968"/>
            <a:ext cx="411480" cy="411480"/>
          </a:xfrm>
          <a:prstGeom prst="ellipse">
            <a:avLst/>
          </a:prstGeom>
          <a:solidFill>
            <a:srgbClr val="1E1540"/>
          </a:solidFill>
          <a:ln w="12700">
            <a:solidFill>
              <a:srgbClr val="1E1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2029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42416" y="19933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</a:rPr>
              <a:t>Layer 2 — ML Training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2416" y="226771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LR → RF → XGBoost · Hyperparameter tuning · Model registry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0" y="2103120"/>
            <a:ext cx="1645920" cy="274320"/>
          </a:xfrm>
          <a:prstGeom prst="rect">
            <a:avLst/>
          </a:prstGeom>
          <a:solidFill>
            <a:srgbClr val="1E1540"/>
          </a:solidFill>
          <a:ln w="12700">
            <a:solidFill>
              <a:srgbClr val="1E1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</a:rPr>
              <a:t>MLflow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2960" y="2578608"/>
            <a:ext cx="9144" cy="73152"/>
          </a:xfrm>
          <a:prstGeom prst="rect">
            <a:avLst/>
          </a:prstGeom>
          <a:solidFill>
            <a:srgbClr val="3A4A6A"/>
          </a:solidFill>
          <a:ln w="12700">
            <a:solidFill>
              <a:srgbClr val="3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2560320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6A"/>
                </a:solidFill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670048"/>
            <a:ext cx="68580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0352" y="2761488"/>
            <a:ext cx="411480" cy="411480"/>
          </a:xfrm>
          <a:prstGeom prst="ellipse">
            <a:avLst/>
          </a:prstGeom>
          <a:solidFill>
            <a:srgbClr val="0F2D1E"/>
          </a:solidFill>
          <a:ln w="12700">
            <a:solidFill>
              <a:srgbClr val="0F2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" y="2761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42416" y="27249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</a:rPr>
              <a:t>Layer 3 — FastAPI Serving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2416" y="299923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REST endpoints · Single &amp; batch predict · &lt;150ms P95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0" y="2834640"/>
            <a:ext cx="1645920" cy="274320"/>
          </a:xfrm>
          <a:prstGeom prst="rect">
            <a:avLst/>
          </a:prstGeom>
          <a:solidFill>
            <a:srgbClr val="0F2D1E"/>
          </a:solidFill>
          <a:ln w="12700">
            <a:solidFill>
              <a:srgbClr val="0F2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E7B7"/>
                </a:solidFill>
              </a:rPr>
              <a:t>Docker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22960" y="3310128"/>
            <a:ext cx="9144" cy="73152"/>
          </a:xfrm>
          <a:prstGeom prst="rect">
            <a:avLst/>
          </a:prstGeom>
          <a:solidFill>
            <a:srgbClr val="3A4A6A"/>
          </a:solidFill>
          <a:ln w="12700">
            <a:solidFill>
              <a:srgbClr val="3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" y="3291840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6A"/>
                </a:solidFill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401568"/>
            <a:ext cx="68580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0352" y="3493008"/>
            <a:ext cx="411480" cy="411480"/>
          </a:xfrm>
          <a:prstGeom prst="ellipse">
            <a:avLst/>
          </a:prstGeom>
          <a:solidFill>
            <a:srgbClr val="2A1E06"/>
          </a:solidFill>
          <a:ln w="12700">
            <a:solidFill>
              <a:srgbClr val="2A1E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0352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42416" y="34564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</a:rPr>
              <a:t>Layer 4 — Monitoring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42416" y="373075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Prometheus scrape 15s · 3 Grafana dashboard panels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0" y="3566160"/>
            <a:ext cx="1645920" cy="274320"/>
          </a:xfrm>
          <a:prstGeom prst="rect">
            <a:avLst/>
          </a:prstGeom>
          <a:solidFill>
            <a:srgbClr val="2A1E06"/>
          </a:solidFill>
          <a:ln w="12700">
            <a:solidFill>
              <a:srgbClr val="2A1E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0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CD34D"/>
                </a:solidFill>
              </a:rPr>
              <a:t>Prometheus/Grafana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22960" y="4041648"/>
            <a:ext cx="9144" cy="73152"/>
          </a:xfrm>
          <a:prstGeom prst="rect">
            <a:avLst/>
          </a:prstGeom>
          <a:solidFill>
            <a:srgbClr val="3A4A6A"/>
          </a:solidFill>
          <a:ln w="12700">
            <a:solidFill>
              <a:srgbClr val="3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1792" y="4023360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A6A"/>
                </a:solidFill>
              </a:rPr>
              <a:t>↓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4133088"/>
            <a:ext cx="68580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30352" y="4224528"/>
            <a:ext cx="411480" cy="411480"/>
          </a:xfrm>
          <a:prstGeom prst="ellipse">
            <a:avLst/>
          </a:prstGeom>
          <a:solidFill>
            <a:srgbClr val="1E1540"/>
          </a:solidFill>
          <a:ln w="12700">
            <a:solidFill>
              <a:srgbClr val="1E1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0352" y="4224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F"/>
                </a:solidFill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42416" y="41879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</a:rPr>
              <a:t>Layer 5 — CI/CD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42416" y="44622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Auto test → build → push → deploy pipeline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0" y="4297680"/>
            <a:ext cx="1645920" cy="274320"/>
          </a:xfrm>
          <a:prstGeom prst="rect">
            <a:avLst/>
          </a:prstGeom>
          <a:solidFill>
            <a:srgbClr val="1E1540"/>
          </a:solidFill>
          <a:ln w="12700">
            <a:solidFill>
              <a:srgbClr val="1E1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86400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</a:rPr>
              <a:t>GitHub Actions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452360" y="1207008"/>
            <a:ext cx="1572768" cy="36393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498080" y="126187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3A4A6A"/>
                </a:solidFill>
              </a:rPr>
              <a:t>Infrastructure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699248" y="1572768"/>
            <a:ext cx="1078992" cy="914400"/>
          </a:xfrm>
          <a:prstGeom prst="rect">
            <a:avLst/>
          </a:prstGeom>
          <a:solidFill>
            <a:srgbClr val="0D1A2A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99248" y="1627632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A8FE"/>
                </a:solidFill>
              </a:rPr>
              <a:t>Docker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6EA8FE"/>
                </a:solidFill>
              </a:rPr>
              <a:t>Compose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699248" y="2176272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4A6A"/>
                </a:solidFill>
              </a:rPr>
              <a:t>All services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A4A6A"/>
                </a:solidFill>
              </a:rPr>
              <a:t>containerized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98080" y="257860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4A6A"/>
                </a:solidFill>
              </a:rPr>
              <a:t>Services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498080" y="2816352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E8"/>
                </a:solidFill>
              </a:rPr>
              <a:t>api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98080" y="3072384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E8"/>
                </a:solidFill>
              </a:rPr>
              <a:t>mlflow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98080" y="332841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E8"/>
                </a:solidFill>
              </a:rPr>
              <a:t>prometheus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498080" y="3584448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E8"/>
                </a:solidFill>
              </a:rPr>
              <a:t>grafana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498080" y="3840480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E8"/>
                </a:solidFill>
              </a:rPr>
              <a:t>postgres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F80F0"/>
                </a:solidFill>
              </a:rPr>
              <a:t>SLIDE 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02920" cy="54864"/>
          </a:xfrm>
          <a:prstGeom prst="rect">
            <a:avLst/>
          </a:prstGeom>
          <a:solidFill>
            <a:srgbClr val="4F80F0"/>
          </a:solidFill>
          <a:ln w="12700">
            <a:solidFill>
              <a:srgbClr val="4F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265176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201168" cy="201168"/>
          </a:xfrm>
          <a:prstGeom prst="ellipse">
            <a:avLst/>
          </a:prstGeom>
          <a:solidFill>
            <a:srgbClr val="3A4A6A"/>
          </a:solidFill>
          <a:ln w="12700">
            <a:solidFill>
              <a:srgbClr val="3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3816" y="12435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0E8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" y="15910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Baseline · interpretable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298448"/>
            <a:ext cx="749808" cy="237744"/>
          </a:xfrm>
          <a:prstGeom prst="rect">
            <a:avLst/>
          </a:prstGeom>
          <a:solidFill>
            <a:srgbClr val="0F2D1E"/>
          </a:solidFill>
          <a:ln w="12700">
            <a:solidFill>
              <a:srgbClr val="1A5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8840" y="129844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4A6A"/>
                </a:solidFill>
              </a:rPr>
              <a:t>Baseline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63240" y="1408176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A4A6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07008"/>
            <a:ext cx="2651760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83280" y="1389888"/>
            <a:ext cx="201168" cy="201168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48456" y="12435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0E8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48456" y="15910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Ensemble · feature importance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83480" y="1298448"/>
            <a:ext cx="749808" cy="237744"/>
          </a:xfrm>
          <a:prstGeom prst="rect">
            <a:avLst/>
          </a:prstGeom>
          <a:solidFill>
            <a:srgbClr val="0F2D1E"/>
          </a:solidFill>
          <a:ln w="12700">
            <a:solidFill>
              <a:srgbClr val="1A5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29844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A8FE"/>
                </a:solidFill>
              </a:rPr>
              <a:t>Improved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1408176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A4A6A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080760" y="1207008"/>
            <a:ext cx="2651760" cy="749808"/>
          </a:xfrm>
          <a:prstGeom prst="rect">
            <a:avLst/>
          </a:prstGeom>
          <a:solidFill>
            <a:srgbClr val="0D1A2A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1389888"/>
            <a:ext cx="201168" cy="201168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83096" y="12435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</a:rPr>
              <a:t>XGBoost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83096" y="15910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Champion model 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818120" y="1298448"/>
            <a:ext cx="749808" cy="237744"/>
          </a:xfrm>
          <a:prstGeom prst="rect">
            <a:avLst/>
          </a:prstGeom>
          <a:solidFill>
            <a:srgbClr val="0F2D1E"/>
          </a:solidFill>
          <a:ln w="12700">
            <a:solidFill>
              <a:srgbClr val="1A5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129844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E7B7"/>
                </a:solidFill>
              </a:rPr>
              <a:t>Champion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2121408"/>
            <a:ext cx="4206240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21762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CD34D"/>
                </a:solidFill>
              </a:rPr>
              <a:t>PERFORMANCE TARGETS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248716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8"/>
                </a:solidFill>
              </a:rPr>
              <a:t>ROC-AUC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2560320"/>
            <a:ext cx="2011680" cy="91440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37360" y="2560320"/>
            <a:ext cx="1770278" cy="91440"/>
          </a:xfrm>
          <a:prstGeom prst="rect">
            <a:avLst/>
          </a:prstGeom>
          <a:solidFill>
            <a:srgbClr val="4F80F0"/>
          </a:solidFill>
          <a:ln w="12700">
            <a:solidFill>
              <a:srgbClr val="4F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22192" y="24871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80F0"/>
                </a:solidFill>
              </a:rPr>
              <a:t>≥ 0.85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27614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8"/>
                </a:solidFill>
              </a:rPr>
              <a:t>Recall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37360" y="2834640"/>
            <a:ext cx="2011680" cy="91440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737360" y="2834640"/>
            <a:ext cx="1609344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22192" y="276148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8BFA"/>
                </a:solidFill>
              </a:rPr>
              <a:t>≥ 0.80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303580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8"/>
                </a:solidFill>
              </a:rPr>
              <a:t>F1 Score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737360" y="3108960"/>
            <a:ext cx="2011680" cy="91440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737360" y="3108960"/>
            <a:ext cx="1448410" cy="9144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22192" y="303580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E7B7"/>
                </a:solidFill>
              </a:rPr>
              <a:t>≥ 0.72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3547872"/>
            <a:ext cx="420624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360273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A78BFA"/>
                </a:solidFill>
              </a:rPr>
              <a:t>EXPERIMENT TRACKING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3895344"/>
            <a:ext cx="457200" cy="457200"/>
          </a:xfrm>
          <a:prstGeom prst="ellipse">
            <a:avLst/>
          </a:prstGeom>
          <a:solidFill>
            <a:srgbClr val="1E1540"/>
          </a:solidFill>
          <a:ln w="12700">
            <a:solidFill>
              <a:srgbClr val="3D2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6928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</a:rPr>
              <a:t>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15568" y="389534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B5FD"/>
                </a:solidFill>
              </a:rPr>
              <a:t>MLflow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15568" y="41513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8"/>
                </a:solidFill>
              </a:rPr>
              <a:t>Params · metrics · artifacts · model registry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2121408"/>
            <a:ext cx="4224528" cy="234086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37760" y="21762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EA8FE"/>
                </a:solidFill>
              </a:rPr>
              <a:t>CLASS IMBALANCE HANDLING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0" y="2487168"/>
            <a:ext cx="868680" cy="1280160"/>
          </a:xfrm>
          <a:prstGeom prst="rect">
            <a:avLst/>
          </a:prstGeom>
          <a:solidFill>
            <a:srgbClr val="2D3A5E"/>
          </a:solidFill>
          <a:ln w="12700">
            <a:solidFill>
              <a:srgbClr val="2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86400" y="250545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A8FE"/>
                </a:solidFill>
              </a:rPr>
              <a:t>73.5%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49240" y="380390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8"/>
                </a:solidFill>
              </a:rPr>
              <a:t>No Churn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37960" y="3310128"/>
            <a:ext cx="868680" cy="4572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537960" y="332841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E7B7"/>
                </a:solidFill>
              </a:rPr>
              <a:t>26.5%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0" y="380390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8"/>
                </a:solidFill>
              </a:rPr>
              <a:t>Churn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00600" y="4133088"/>
            <a:ext cx="4224528" cy="566928"/>
          </a:xfrm>
          <a:prstGeom prst="rect">
            <a:avLst/>
          </a:prstGeom>
          <a:solidFill>
            <a:srgbClr val="0D1525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937760" y="41879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8"/>
                </a:solidFill>
              </a:rPr>
              <a:t>Strategy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937760" y="44074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 = "balanced"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F80F0"/>
                </a:solidFill>
              </a:rPr>
              <a:t>SLIDE  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02920" cy="54864"/>
          </a:xfrm>
          <a:prstGeom prst="rect">
            <a:avLst/>
          </a:prstGeom>
          <a:solidFill>
            <a:srgbClr val="4F80F0"/>
          </a:solidFill>
          <a:ln w="12700">
            <a:solidFill>
              <a:srgbClr val="4F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374904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" y="1335024"/>
            <a:ext cx="512064" cy="274320"/>
          </a:xfrm>
          <a:prstGeom prst="rect">
            <a:avLst/>
          </a:prstGeom>
          <a:solidFill>
            <a:srgbClr val="0F2D1E"/>
          </a:solidFill>
          <a:ln w="12700">
            <a:solidFill>
              <a:srgbClr val="0F2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33502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E7B7"/>
                </a:solidFill>
              </a:rPr>
              <a:t>POST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3856" y="1335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17520" y="1335024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FA8"/>
                </a:solidFill>
              </a:rPr>
              <a:t>Single prediction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865376"/>
            <a:ext cx="374904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0352" y="1993392"/>
            <a:ext cx="512064" cy="274320"/>
          </a:xfrm>
          <a:prstGeom prst="rect">
            <a:avLst/>
          </a:prstGeom>
          <a:solidFill>
            <a:srgbClr val="0F2D1E"/>
          </a:solidFill>
          <a:ln w="12700">
            <a:solidFill>
              <a:srgbClr val="0F2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1993392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E7B7"/>
                </a:solidFill>
              </a:rPr>
              <a:t>POST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33856" y="1993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/predict/batch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17520" y="1993392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FA8"/>
                </a:solidFill>
              </a:rPr>
              <a:t>Batch scoring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523744"/>
            <a:ext cx="374904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0352" y="2651760"/>
            <a:ext cx="512064" cy="274320"/>
          </a:xfrm>
          <a:prstGeom prst="rect">
            <a:avLst/>
          </a:prstGeom>
          <a:solidFill>
            <a:srgbClr val="1A2D5E"/>
          </a:solidFill>
          <a:ln w="12700">
            <a:solidFill>
              <a:srgbClr val="1A2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65176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A8FE"/>
                </a:solidFill>
              </a:rPr>
              <a:t>GET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33856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17520" y="26517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FA8"/>
                </a:solidFill>
              </a:rPr>
              <a:t>Health check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182112"/>
            <a:ext cx="374904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0352" y="3310128"/>
            <a:ext cx="512064" cy="274320"/>
          </a:xfrm>
          <a:prstGeom prst="rect">
            <a:avLst/>
          </a:prstGeom>
          <a:solidFill>
            <a:srgbClr val="1A2D5E"/>
          </a:solidFill>
          <a:ln w="12700">
            <a:solidFill>
              <a:srgbClr val="1A2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3310128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A8FE"/>
                </a:solidFill>
              </a:rPr>
              <a:t>GET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" y="3310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17520" y="3310128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FA8"/>
                </a:solidFill>
              </a:rPr>
              <a:t>Prometheus metrics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913632"/>
            <a:ext cx="37490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39684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8"/>
                </a:solidFill>
              </a:rPr>
              <a:t>Latency SLA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420624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EE7B7"/>
                </a:solidFill>
              </a:rPr>
              <a:t>&lt;150ms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267712" y="42611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60"/>
                </a:solidFill>
              </a:rPr>
              <a:t>P95 inference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1207008"/>
            <a:ext cx="4636008" cy="3218688"/>
          </a:xfrm>
          <a:prstGeom prst="rect">
            <a:avLst/>
          </a:prstGeom>
          <a:solidFill>
            <a:srgbClr val="090E18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26280" y="126187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3A4A6A"/>
                </a:solidFill>
              </a:rPr>
              <a:t>SAMPLE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26280" y="1554480"/>
            <a:ext cx="4297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26280" y="1773936"/>
            <a:ext cx="4297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"churn_probability":  0.823,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26280" y="1993392"/>
            <a:ext cx="4297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"is_churn":  true,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26280" y="2212848"/>
            <a:ext cx="4297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"risk_tier":  "High",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26280" y="2432304"/>
            <a:ext cx="4297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"reason_codes":  [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26280" y="2651760"/>
            <a:ext cx="4297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"contract_type_monthly",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26280" y="2871216"/>
            <a:ext cx="4297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"tenure_lt_12mo",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26280" y="3090672"/>
            <a:ext cx="4297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"no_techsupport"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26280" y="3310128"/>
            <a:ext cx="4297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26280" y="3529584"/>
            <a:ext cx="4297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"model_version":  "xgb_v2"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26280" y="3749040"/>
            <a:ext cx="4297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26280" y="4480560"/>
            <a:ext cx="1316736" cy="274320"/>
          </a:xfrm>
          <a:prstGeom prst="rect">
            <a:avLst/>
          </a:prstGeom>
          <a:solidFill>
            <a:srgbClr val="2A0F0F"/>
          </a:solidFill>
          <a:ln w="12700">
            <a:solidFill>
              <a:srgbClr val="2A0F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26280" y="448056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</a:rPr>
              <a:t>High risk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52744" y="4480560"/>
            <a:ext cx="1316736" cy="274320"/>
          </a:xfrm>
          <a:prstGeom prst="rect">
            <a:avLst/>
          </a:prstGeom>
          <a:solidFill>
            <a:srgbClr val="2A1E06"/>
          </a:solidFill>
          <a:ln w="12700">
            <a:solidFill>
              <a:srgbClr val="2A1E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52744" y="448056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D34D"/>
                </a:solidFill>
              </a:rPr>
              <a:t>Medium risk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79208" y="4480560"/>
            <a:ext cx="1316736" cy="274320"/>
          </a:xfrm>
          <a:prstGeom prst="rect">
            <a:avLst/>
          </a:prstGeom>
          <a:solidFill>
            <a:srgbClr val="0F2D1E"/>
          </a:solidFill>
          <a:ln w="12700">
            <a:solidFill>
              <a:srgbClr val="0F2D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79208" y="448056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Low risk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F80F0"/>
                </a:solidFill>
              </a:rPr>
              <a:t>SLIDE 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02920" cy="54864"/>
          </a:xfrm>
          <a:prstGeom prst="rect">
            <a:avLst/>
          </a:prstGeom>
          <a:solidFill>
            <a:srgbClr val="4F80F0"/>
          </a:solidFill>
          <a:ln w="12700">
            <a:solidFill>
              <a:srgbClr val="4F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4160520" cy="1005840"/>
          </a:xfrm>
          <a:prstGeom prst="rect">
            <a:avLst/>
          </a:prstGeom>
          <a:solidFill>
            <a:srgbClr val="150A08"/>
          </a:solidFill>
          <a:ln w="12700">
            <a:solidFill>
              <a:srgbClr val="4A2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E87C6E"/>
                </a:solidFill>
              </a:rPr>
              <a:t>PROMETHEUS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548640" cy="548640"/>
          </a:xfrm>
          <a:prstGeom prst="ellipse">
            <a:avLst/>
          </a:prstGeom>
          <a:solidFill>
            <a:srgbClr val="3A2010"/>
          </a:solidFill>
          <a:ln w="12700">
            <a:solidFill>
              <a:srgbClr val="5A3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090"/>
                </a:solidFill>
              </a:rPr>
              <a:t>15s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8"/>
                </a:solidFill>
              </a:rPr>
              <a:t>Scrape interval for all registered targets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207008"/>
            <a:ext cx="425196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12618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CD34D"/>
                </a:solidFill>
              </a:rPr>
              <a:t>GRAFANA DASHBOARDS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64608" y="1572768"/>
            <a:ext cx="1261872" cy="512064"/>
          </a:xfrm>
          <a:prstGeom prst="rect">
            <a:avLst/>
          </a:prstGeom>
          <a:solidFill>
            <a:srgbClr val="2A1E06"/>
          </a:solidFill>
          <a:ln w="12700">
            <a:solidFill>
              <a:srgbClr val="2A1E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1572768"/>
            <a:ext cx="1261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CD34D"/>
                </a:solidFill>
              </a:rPr>
              <a:t>Business Pulse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6208" y="1572768"/>
            <a:ext cx="1261872" cy="512064"/>
          </a:xfrm>
          <a:prstGeom prst="rect">
            <a:avLst/>
          </a:prstGeom>
          <a:solidFill>
            <a:srgbClr val="1A2D5E"/>
          </a:solidFill>
          <a:ln w="12700">
            <a:solidFill>
              <a:srgbClr val="1A2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36208" y="1572768"/>
            <a:ext cx="1261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A8FE"/>
                </a:solidFill>
              </a:rPr>
              <a:t>Model Health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07808" y="1572768"/>
            <a:ext cx="1261872" cy="512064"/>
          </a:xfrm>
          <a:prstGeom prst="rect">
            <a:avLst/>
          </a:prstGeom>
          <a:solidFill>
            <a:srgbClr val="1E1540"/>
          </a:solidFill>
          <a:ln w="12700">
            <a:solidFill>
              <a:srgbClr val="1E1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07808" y="1572768"/>
            <a:ext cx="1261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</a:rPr>
              <a:t>System Health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39572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3A4A6A"/>
                </a:solidFill>
              </a:rPr>
              <a:t>KEY METRICS TRACKED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2706624"/>
            <a:ext cx="2651760" cy="1755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7614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A8FE"/>
                </a:solidFill>
              </a:rPr>
              <a:t>Prediction Distribution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29992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No Churn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27632" y="3054096"/>
            <a:ext cx="641909" cy="128016"/>
          </a:xfrm>
          <a:prstGeom prst="rect">
            <a:avLst/>
          </a:prstGeom>
          <a:solidFill>
            <a:srgbClr val="2D3A5E"/>
          </a:solidFill>
          <a:ln w="12700">
            <a:solidFill>
              <a:srgbClr val="2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4015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Churn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627632" y="3456432"/>
            <a:ext cx="283921" cy="128016"/>
          </a:xfrm>
          <a:prstGeom prst="rect">
            <a:avLst/>
          </a:prstGeom>
          <a:solidFill>
            <a:srgbClr val="3A2010"/>
          </a:solidFill>
          <a:ln w="12700">
            <a:solidFill>
              <a:srgbClr val="3A2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380390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High Risk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27632" y="3858768"/>
            <a:ext cx="395021" cy="128016"/>
          </a:xfrm>
          <a:prstGeom prst="rect">
            <a:avLst/>
          </a:prstGeom>
          <a:solidFill>
            <a:srgbClr val="1E1540"/>
          </a:solidFill>
          <a:ln w="12700">
            <a:solidFill>
              <a:srgbClr val="1E1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2706624"/>
            <a:ext cx="2651760" cy="1755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37560" y="27614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</a:rPr>
              <a:t>API Latency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01568" y="30175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</a:rPr>
              <a:t>P50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53712" y="3017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01568" y="34381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</a:rPr>
              <a:t>P95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53712" y="34381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&lt;150ms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01568" y="38587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</a:rPr>
              <a:t>P99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53712" y="38587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&lt;300ms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89320" y="2706624"/>
            <a:ext cx="2651760" cy="1755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26480" y="27614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E7B7"/>
                </a:solidFill>
              </a:rPr>
              <a:t>Error Rate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36208" y="31272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EE7B7"/>
                </a:solidFill>
              </a:rPr>
              <a:t>&lt;0.1%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6236208" y="371246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60"/>
                </a:solidFill>
              </a:rPr>
              <a:t>Target SLA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F80F0"/>
                </a:solidFill>
              </a:rPr>
              <a:t>SLIDE 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02920" cy="54864"/>
          </a:xfrm>
          <a:prstGeom prst="rect">
            <a:avLst/>
          </a:prstGeom>
          <a:solidFill>
            <a:srgbClr val="4F80F0"/>
          </a:solidFill>
          <a:ln w="12700">
            <a:solidFill>
              <a:srgbClr val="4F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4206240" cy="19933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EA8FE"/>
                </a:solidFill>
              </a:rPr>
              <a:t>EXPLAINABILITY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8"/>
                </a:solidFill>
              </a:rPr>
              <a:t>SHAP feature importance per prediction, surfaced as reason_codes in API response.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048256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Contract type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01952" y="2121408"/>
            <a:ext cx="2377440" cy="91440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01952" y="2121408"/>
            <a:ext cx="2020824" cy="91440"/>
          </a:xfrm>
          <a:prstGeom prst="rect">
            <a:avLst/>
          </a:prstGeom>
          <a:solidFill>
            <a:srgbClr val="4F80F0"/>
          </a:solidFill>
          <a:ln w="12700">
            <a:solidFill>
              <a:srgbClr val="4F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37744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Tenure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01952" y="2450592"/>
            <a:ext cx="2377440" cy="91440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01952" y="2450592"/>
            <a:ext cx="1616659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70662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8"/>
                </a:solidFill>
              </a:rPr>
              <a:t>Monthly charges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01952" y="2779776"/>
            <a:ext cx="2377440" cy="91440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01952" y="2779776"/>
            <a:ext cx="1236269" cy="9144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36592" y="1207008"/>
            <a:ext cx="4251960" cy="19933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12618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EE7B7"/>
                </a:solidFill>
              </a:rPr>
              <a:t>FAIRNESS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64608" y="15361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8"/>
                </a:solidFill>
              </a:rPr>
              <a:t>Demographic Parity analysis across gender groups.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64608" y="1956816"/>
            <a:ext cx="4023360" cy="1133856"/>
          </a:xfrm>
          <a:prstGeom prst="rect">
            <a:avLst/>
          </a:prstGeom>
          <a:solidFill>
            <a:srgbClr val="0D1525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029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8"/>
                </a:solidFill>
              </a:rPr>
              <a:t>Male prediction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45552" y="2029968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26.1%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23591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8"/>
                </a:solidFill>
              </a:rPr>
              <a:t>Female prediction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45552" y="2359152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27.0%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27066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8"/>
                </a:solidFill>
              </a:rPr>
              <a:t>Gap (target ≤ 0.05)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43216" y="2706624"/>
            <a:ext cx="1335024" cy="256032"/>
          </a:xfrm>
          <a:prstGeom prst="rect">
            <a:avLst/>
          </a:prstGeom>
          <a:solidFill>
            <a:srgbClr val="0F2D1E"/>
          </a:solidFill>
          <a:ln w="12700">
            <a:solidFill>
              <a:srgbClr val="1A5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43216" y="2706624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0.009 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328416"/>
            <a:ext cx="4206240" cy="14813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" y="3383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CD34D"/>
                </a:solidFill>
              </a:rPr>
              <a:t>GUARDRAILS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6928" y="367588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" y="36758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8"/>
                </a:solidFill>
              </a:rPr>
              <a:t>Pydantic input validation on all fields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39502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" y="39502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8"/>
                </a:solidFill>
              </a:rPr>
              <a:t>Age range checks (18–100)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422452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7824" y="42245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8"/>
                </a:solidFill>
              </a:rPr>
              <a:t>Tenure range validation (0–360 months)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449884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7824" y="449884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8"/>
                </a:solidFill>
              </a:rPr>
              <a:t>Automatic 422 on schema violations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36592" y="3328416"/>
            <a:ext cx="4251960" cy="14813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64608" y="3383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A78BFA"/>
                </a:solidFill>
              </a:rPr>
              <a:t>TRANSPARENCY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64608" y="36576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8"/>
                </a:solidFill>
              </a:rPr>
              <a:t>All experiments fully tracked in MLflow for auditable model lineage.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64608" y="4169664"/>
            <a:ext cx="1828800" cy="256032"/>
          </a:xfrm>
          <a:prstGeom prst="rect">
            <a:avLst/>
          </a:prstGeom>
          <a:solidFill>
            <a:srgbClr val="1E1540"/>
          </a:solidFill>
          <a:ln w="12700">
            <a:solidFill>
              <a:srgbClr val="3D2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64608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Params logged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76288" y="4169664"/>
            <a:ext cx="1828800" cy="256032"/>
          </a:xfrm>
          <a:prstGeom prst="rect">
            <a:avLst/>
          </a:prstGeom>
          <a:solidFill>
            <a:srgbClr val="1E1540"/>
          </a:solidFill>
          <a:ln w="12700">
            <a:solidFill>
              <a:srgbClr val="3D2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76288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Metrics stored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64608" y="4498848"/>
            <a:ext cx="1828800" cy="256032"/>
          </a:xfrm>
          <a:prstGeom prst="rect">
            <a:avLst/>
          </a:prstGeom>
          <a:solidFill>
            <a:srgbClr val="1E1540"/>
          </a:solidFill>
          <a:ln w="12700">
            <a:solidFill>
              <a:srgbClr val="3D2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64608" y="4498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Model registry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76288" y="4498848"/>
            <a:ext cx="1828800" cy="256032"/>
          </a:xfrm>
          <a:prstGeom prst="rect">
            <a:avLst/>
          </a:prstGeom>
          <a:solidFill>
            <a:srgbClr val="1E1540"/>
          </a:solidFill>
          <a:ln w="12700">
            <a:solidFill>
              <a:srgbClr val="3D2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76288" y="4498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Artifact tracking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F80F0"/>
                </a:solidFill>
              </a:rPr>
              <a:t>SLIDE  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02920" cy="54864"/>
          </a:xfrm>
          <a:prstGeom prst="rect">
            <a:avLst/>
          </a:prstGeom>
          <a:solidFill>
            <a:srgbClr val="4F80F0"/>
          </a:solidFill>
          <a:ln w="12700">
            <a:solidFill>
              <a:srgbClr val="4F8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841248"/>
          </a:xfrm>
          <a:prstGeom prst="rect">
            <a:avLst/>
          </a:prstGeom>
          <a:solidFill>
            <a:srgbClr val="0A1520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EA8FE"/>
                </a:solidFill>
              </a:rPr>
              <a:t>ACHIEVED — End-to-End Production ML System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1536192"/>
            <a:ext cx="1097280" cy="384048"/>
          </a:xfrm>
          <a:prstGeom prst="rect">
            <a:avLst/>
          </a:prstGeom>
          <a:solidFill>
            <a:srgbClr val="1A2D5E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5361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A8FE"/>
                </a:solidFill>
              </a:rPr>
              <a:t>ML Pipeline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55648" y="1536192"/>
            <a:ext cx="1097280" cy="384048"/>
          </a:xfrm>
          <a:prstGeom prst="rect">
            <a:avLst/>
          </a:prstGeom>
          <a:solidFill>
            <a:srgbClr val="1A2D5E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55648" y="15361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A8FE"/>
                </a:solidFill>
              </a:rPr>
              <a:t>FastAPI Serving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44368" y="1536192"/>
            <a:ext cx="1097280" cy="384048"/>
          </a:xfrm>
          <a:prstGeom prst="rect">
            <a:avLst/>
          </a:prstGeom>
          <a:solidFill>
            <a:srgbClr val="1A2D5E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44368" y="15361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A8FE"/>
                </a:solidFill>
              </a:rPr>
              <a:t>MLflow Tracking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33088" y="1536192"/>
            <a:ext cx="1097280" cy="384048"/>
          </a:xfrm>
          <a:prstGeom prst="rect">
            <a:avLst/>
          </a:prstGeom>
          <a:solidFill>
            <a:srgbClr val="1A2D5E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33088" y="15361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A8FE"/>
                </a:solidFill>
              </a:rPr>
              <a:t>Prometheus Monitoring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21808" y="1536192"/>
            <a:ext cx="1097280" cy="384048"/>
          </a:xfrm>
          <a:prstGeom prst="rect">
            <a:avLst/>
          </a:prstGeom>
          <a:solidFill>
            <a:srgbClr val="1A2D5E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21808" y="15361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A8FE"/>
                </a:solidFill>
              </a:rPr>
              <a:t>GitHub Actions CI/CD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10528" y="1536192"/>
            <a:ext cx="1097280" cy="384048"/>
          </a:xfrm>
          <a:prstGeom prst="rect">
            <a:avLst/>
          </a:prstGeom>
          <a:solidFill>
            <a:srgbClr val="1A2D5E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10528" y="15361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A8FE"/>
                </a:solidFill>
              </a:rPr>
              <a:t>Responsible AI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699248" y="1536192"/>
            <a:ext cx="1097280" cy="384048"/>
          </a:xfrm>
          <a:prstGeom prst="rect">
            <a:avLst/>
          </a:prstGeom>
          <a:solidFill>
            <a:srgbClr val="1A2D5E"/>
          </a:solidFill>
          <a:ln w="12700">
            <a:solidFill>
              <a:srgbClr val="2D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99248" y="15361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A8FE"/>
                </a:solidFill>
              </a:rPr>
              <a:t>Docker Compose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212848"/>
            <a:ext cx="4160520" cy="12435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22677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EE7B7"/>
                </a:solidFill>
              </a:rPr>
              <a:t>BUSINESS IMPACT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6928" y="2578608"/>
            <a:ext cx="1920240" cy="713232"/>
          </a:xfrm>
          <a:prstGeom prst="rect">
            <a:avLst/>
          </a:prstGeom>
          <a:solidFill>
            <a:srgbClr val="0D1525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261518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E7B7"/>
                </a:solidFill>
              </a:rPr>
              <a:t>≥ 5%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" y="299923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A60"/>
                </a:solidFill>
              </a:rPr>
              <a:t>Churn rate reduction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70048" y="2578608"/>
            <a:ext cx="1920240" cy="713232"/>
          </a:xfrm>
          <a:prstGeom prst="rect">
            <a:avLst/>
          </a:prstGeom>
          <a:solidFill>
            <a:srgbClr val="0D1525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70048" y="261518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E7B7"/>
                </a:solidFill>
              </a:rPr>
              <a:t>≥ 3×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70048" y="299923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A60"/>
                </a:solidFill>
              </a:rPr>
              <a:t>Top-decile lift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36592" y="2212848"/>
            <a:ext cx="4251960" cy="12435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64608" y="22677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A78BFA"/>
                </a:solidFill>
              </a:rPr>
              <a:t>FUTURE ROADMAP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01184" y="2578608"/>
            <a:ext cx="146304" cy="1463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38928" y="25603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8"/>
                </a:solidFill>
              </a:rPr>
              <a:t>XGBoost upgrade with AutoML hyperparameter search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01184" y="2852928"/>
            <a:ext cx="146304" cy="146304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38928" y="28346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8"/>
                </a:solidFill>
              </a:rPr>
              <a:t>Real Telco dataset integration — live data pipeline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01184" y="3127248"/>
            <a:ext cx="146304" cy="146304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38928" y="31089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8"/>
                </a:solidFill>
              </a:rPr>
              <a:t>Kubernetes scaling for production traffic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11480" y="3621024"/>
            <a:ext cx="8321040" cy="1261872"/>
          </a:xfrm>
          <a:prstGeom prst="rect">
            <a:avLst/>
          </a:prstGeom>
          <a:solidFill>
            <a:srgbClr val="0D1525"/>
          </a:solidFill>
          <a:ln w="12700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" y="369417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F"/>
                </a:solidFill>
              </a:rPr>
              <a:t>DDM501 — AI in Production  ·  Group 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4360" y="40599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8"/>
                </a:solidFill>
              </a:rPr>
              <a:t>Nguyễn Huỳnh Bách Nhân  ·  Đỗ Trọng Minh Quân  ·  Lê Huỳnh Trang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0" y="37124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6A"/>
                </a:solidFill>
              </a:rPr>
              <a:t>MSA Program 2024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400507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4F80F0"/>
                </a:solidFill>
              </a:rPr>
              <a:t>Thank you!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7EF9DD5-DE79-41C5-B1A2-5A3CF88B1B7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50ebc90-685f-47a9-9b2a-5c2d0f559f0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642</Words>
  <Application>Microsoft Office PowerPoint</Application>
  <PresentationFormat>On-screen Show (16:9)</PresentationFormat>
  <Paragraphs>214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System</dc:title>
  <dc:subject>PptxGenJS Presentation</dc:subject>
  <dc:creator>Group 6 - MSA Program 2024</dc:creator>
  <cp:lastModifiedBy>Trang Le</cp:lastModifiedBy>
  <cp:revision>2</cp:revision>
  <dcterms:created xsi:type="dcterms:W3CDTF">2026-04-16T12:37:07Z</dcterms:created>
  <dcterms:modified xsi:type="dcterms:W3CDTF">2026-04-16T12:54:01Z</dcterms:modified>
</cp:coreProperties>
</file>